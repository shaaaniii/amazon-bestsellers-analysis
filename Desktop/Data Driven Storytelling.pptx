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7"/>
  </p:notesMasterIdLst>
  <p:sldIdLst>
    <p:sldId id="256" r:id="rId2"/>
    <p:sldId id="257" r:id="rId3"/>
    <p:sldId id="261" r:id="rId4"/>
    <p:sldId id="262" r:id="rId5"/>
    <p:sldId id="259" r:id="rId6"/>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1224">
          <p15:clr>
            <a:srgbClr val="A4A3A4"/>
          </p15:clr>
        </p15:guide>
        <p15:guide id="3" orient="horz" pos="3888">
          <p15:clr>
            <a:srgbClr val="A4A3A4"/>
          </p15:clr>
        </p15:guide>
        <p15:guide id="4" pos="4104">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0" roundtripDataSignature="AMtx7mhmuXWA08DaxH658KF9sadERmbc4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1386" y="72"/>
      </p:cViewPr>
      <p:guideLst>
        <p:guide orient="horz" pos="2160"/>
        <p:guide pos="1224"/>
        <p:guide orient="horz" pos="3888"/>
        <p:guide pos="410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customschemas.google.com/relationships/presentationmetadata" Target="metadata"/><Relationship Id="rId4" Type="http://schemas.openxmlformats.org/officeDocument/2006/relationships/slide" Target="slides/slide3.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924330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 name="Google Shape;9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extLst>
      <p:ext uri="{BB962C8B-B14F-4D97-AF65-F5344CB8AC3E}">
        <p14:creationId xmlns:p14="http://schemas.microsoft.com/office/powerpoint/2010/main" val="28944450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095167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13983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19" name="Google Shape;19;p6"/>
          <p:cNvCxnSpPr/>
          <p:nvPr/>
        </p:nvCxnSpPr>
        <p:spPr>
          <a:xfrm>
            <a:off x="475488" y="895393"/>
            <a:ext cx="8211312" cy="0"/>
          </a:xfrm>
          <a:prstGeom prst="straightConnector1">
            <a:avLst/>
          </a:prstGeom>
          <a:noFill/>
          <a:ln w="57150" cap="flat" cmpd="sng">
            <a:solidFill>
              <a:srgbClr val="0070C0"/>
            </a:solidFill>
            <a:prstDash val="solid"/>
            <a:miter lim="800000"/>
            <a:headEnd type="none" w="sm" len="sm"/>
            <a:tailEnd type="none" w="sm" len="sm"/>
          </a:ln>
        </p:spPr>
      </p:cxnSp>
      <p:cxnSp>
        <p:nvCxnSpPr>
          <p:cNvPr id="20" name="Google Shape;20;p6"/>
          <p:cNvCxnSpPr/>
          <p:nvPr/>
        </p:nvCxnSpPr>
        <p:spPr>
          <a:xfrm>
            <a:off x="475488" y="6143775"/>
            <a:ext cx="8211312" cy="0"/>
          </a:xfrm>
          <a:prstGeom prst="straightConnector1">
            <a:avLst/>
          </a:prstGeom>
          <a:noFill/>
          <a:ln w="57150" cap="flat" cmpd="sng">
            <a:solidFill>
              <a:srgbClr val="0070C0"/>
            </a:solidFill>
            <a:prstDash val="solid"/>
            <a:miter lim="800000"/>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1"/>
        <p:cNvGrpSpPr/>
        <p:nvPr/>
      </p:nvGrpSpPr>
      <p:grpSpPr>
        <a:xfrm>
          <a:off x="0" y="0"/>
          <a:ext cx="0" cy="0"/>
          <a:chOff x="0" y="0"/>
          <a:chExt cx="0" cy="0"/>
        </a:xfrm>
      </p:grpSpPr>
      <p:sp>
        <p:nvSpPr>
          <p:cNvPr id="22" name="Google Shape;22;p7"/>
          <p:cNvSpPr txBox="1">
            <a:spLocks noGrp="1"/>
          </p:cNvSpPr>
          <p:nvPr>
            <p:ph type="title"/>
          </p:nvPr>
        </p:nvSpPr>
        <p:spPr>
          <a:xfrm>
            <a:off x="629841" y="457200"/>
            <a:ext cx="2949178" cy="1600200"/>
          </a:xfrm>
          <a:prstGeom prst="rect">
            <a:avLst/>
          </a:prstGeom>
          <a:noFill/>
          <a:ln>
            <a:noFill/>
          </a:ln>
        </p:spPr>
        <p:txBody>
          <a:bodyPr spcFirstLastPara="1" wrap="square" lIns="0" tIns="45700" rIns="0" bIns="45700" anchor="b" anchorCtr="0">
            <a:normAutofit/>
          </a:bodyPr>
          <a:lstStyle>
            <a:lvl1pPr lvl="0" algn="l">
              <a:lnSpc>
                <a:spcPct val="90000"/>
              </a:lnSpc>
              <a:spcBef>
                <a:spcPts val="0"/>
              </a:spcBef>
              <a:spcAft>
                <a:spcPts val="0"/>
              </a:spcAft>
              <a:buClr>
                <a:schemeClr val="dk2"/>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7"/>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4" name="Google Shape;24;p7"/>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25" name="Google Shape;25;p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8"/>
        <p:cNvGrpSpPr/>
        <p:nvPr/>
      </p:nvGrpSpPr>
      <p:grpSpPr>
        <a:xfrm>
          <a:off x="0" y="0"/>
          <a:ext cx="0" cy="0"/>
          <a:chOff x="0" y="0"/>
          <a:chExt cx="0" cy="0"/>
        </a:xfrm>
      </p:grpSpPr>
      <p:sp>
        <p:nvSpPr>
          <p:cNvPr id="29" name="Google Shape;29;p8"/>
          <p:cNvSpPr txBox="1">
            <a:spLocks noGrp="1"/>
          </p:cNvSpPr>
          <p:nvPr>
            <p:ph type="title"/>
          </p:nvPr>
        </p:nvSpPr>
        <p:spPr>
          <a:xfrm>
            <a:off x="457200" y="535377"/>
            <a:ext cx="8229600" cy="278130"/>
          </a:xfrm>
          <a:prstGeom prst="rect">
            <a:avLst/>
          </a:prstGeom>
          <a:noFill/>
          <a:ln>
            <a:noFill/>
          </a:ln>
        </p:spPr>
        <p:txBody>
          <a:bodyPr spcFirstLastPara="1" wrap="square" lIns="0" tIns="45700" rIns="0" bIns="45700" anchor="ctr" anchorCtr="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3"/>
        <p:cNvGrpSpPr/>
        <p:nvPr/>
      </p:nvGrpSpPr>
      <p:grpSpPr>
        <a:xfrm>
          <a:off x="0" y="0"/>
          <a:ext cx="0" cy="0"/>
          <a:chOff x="0" y="0"/>
          <a:chExt cx="0" cy="0"/>
        </a:xfrm>
      </p:grpSpPr>
      <p:sp>
        <p:nvSpPr>
          <p:cNvPr id="34" name="Google Shape;34;p9"/>
          <p:cNvSpPr txBox="1">
            <a:spLocks noGrp="1"/>
          </p:cNvSpPr>
          <p:nvPr>
            <p:ph type="title"/>
          </p:nvPr>
        </p:nvSpPr>
        <p:spPr>
          <a:xfrm>
            <a:off x="477748" y="535377"/>
            <a:ext cx="8229600" cy="278130"/>
          </a:xfrm>
          <a:prstGeom prst="rect">
            <a:avLst/>
          </a:prstGeom>
          <a:noFill/>
          <a:ln>
            <a:noFill/>
          </a:ln>
        </p:spPr>
        <p:txBody>
          <a:bodyPr spcFirstLastPara="1" wrap="square" lIns="0" tIns="45700" rIns="0" bIns="45700" anchor="ctr" anchorCtr="0">
            <a:normAutofit/>
          </a:bodyPr>
          <a:lstStyle>
            <a:lvl1pPr lvl="0" algn="l">
              <a:lnSpc>
                <a:spcPct val="90000"/>
              </a:lnSpc>
              <a:spcBef>
                <a:spcPts val="0"/>
              </a:spcBef>
              <a:spcAft>
                <a:spcPts val="0"/>
              </a:spcAft>
              <a:buClr>
                <a:schemeClr val="dk2"/>
              </a:buClr>
              <a:buSzPts val="1800"/>
              <a:buFont typeface="Arial"/>
              <a:buNone/>
              <a:defRPr>
                <a:solidFill>
                  <a:schemeClr val="dk2"/>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9"/>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90000"/>
              </a:lnSpc>
              <a:spcBef>
                <a:spcPts val="50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90000"/>
              </a:lnSpc>
              <a:spcBef>
                <a:spcPts val="500"/>
              </a:spcBef>
              <a:spcAft>
                <a:spcPts val="0"/>
              </a:spcAft>
              <a:buClr>
                <a:schemeClr val="dk2"/>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6" name="Google Shape;36;p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9" name="Google Shape;39;p9"/>
          <p:cNvSpPr/>
          <p:nvPr/>
        </p:nvSpPr>
        <p:spPr>
          <a:xfrm>
            <a:off x="7398044" y="6337300"/>
            <a:ext cx="1288756" cy="259232"/>
          </a:xfrm>
          <a:prstGeom prst="rect">
            <a:avLst/>
          </a:prstGeom>
          <a:blipFill rotWithShape="1">
            <a:blip r:embed="rId2">
              <a:alphaModFix/>
            </a:blip>
            <a:stretch>
              <a:fillRect/>
            </a:stretch>
          </a:blipFill>
          <a:ln>
            <a:noFill/>
          </a:ln>
        </p:spPr>
        <p:txBody>
          <a:bodyPr spcFirstLastPara="1" wrap="square" lIns="91425" tIns="45700" rIns="91425" bIns="45700" anchor="ctr" anchorCtr="0">
            <a:noAutofit/>
          </a:bodyPr>
          <a:lstStyle/>
          <a:p>
            <a:pPr marL="0" marR="0" lvl="0" indent="0" algn="ctr" rtl="0">
              <a:lnSpc>
                <a:spcPct val="110000"/>
              </a:lnSpc>
              <a:spcBef>
                <a:spcPts val="0"/>
              </a:spcBef>
              <a:spcAft>
                <a:spcPts val="0"/>
              </a:spcAft>
              <a:buNone/>
            </a:pPr>
            <a:endParaRPr sz="1200">
              <a:solidFill>
                <a:schemeClr val="dk2"/>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0"/>
          <p:cNvSpPr txBox="1">
            <a:spLocks noGrp="1"/>
          </p:cNvSpPr>
          <p:nvPr>
            <p:ph type="title"/>
          </p:nvPr>
        </p:nvSpPr>
        <p:spPr>
          <a:xfrm>
            <a:off x="623888" y="1709739"/>
            <a:ext cx="7886700" cy="2852737"/>
          </a:xfrm>
          <a:prstGeom prst="rect">
            <a:avLst/>
          </a:prstGeom>
          <a:noFill/>
          <a:ln>
            <a:noFill/>
          </a:ln>
        </p:spPr>
        <p:txBody>
          <a:bodyPr spcFirstLastPara="1" wrap="square" lIns="0" tIns="45700" rIns="0" bIns="45700" anchor="b" anchorCtr="0">
            <a:normAutofit/>
          </a:bodyPr>
          <a:lstStyle>
            <a:lvl1pPr lvl="0" algn="l">
              <a:lnSpc>
                <a:spcPct val="90000"/>
              </a:lnSpc>
              <a:spcBef>
                <a:spcPts val="0"/>
              </a:spcBef>
              <a:spcAft>
                <a:spcPts val="0"/>
              </a:spcAft>
              <a:buClr>
                <a:schemeClr val="dk2"/>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0"/>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43" name="Google Shape;43;p1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457200" y="535377"/>
            <a:ext cx="8229600" cy="278130"/>
          </a:xfrm>
          <a:prstGeom prst="rect">
            <a:avLst/>
          </a:prstGeom>
          <a:noFill/>
          <a:ln>
            <a:noFill/>
          </a:ln>
        </p:spPr>
        <p:txBody>
          <a:bodyPr spcFirstLastPara="1" wrap="square" lIns="0" tIns="45700" rIns="0" bIns="45700" anchor="ctr" anchorCtr="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11"/>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9" name="Google Shape;49;p11"/>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0" name="Google Shape;50;p1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1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3"/>
        <p:cNvGrpSpPr/>
        <p:nvPr/>
      </p:nvGrpSpPr>
      <p:grpSpPr>
        <a:xfrm>
          <a:off x="0" y="0"/>
          <a:ext cx="0" cy="0"/>
          <a:chOff x="0" y="0"/>
          <a:chExt cx="0" cy="0"/>
        </a:xfrm>
      </p:grpSpPr>
      <p:sp>
        <p:nvSpPr>
          <p:cNvPr id="54" name="Google Shape;54;p12"/>
          <p:cNvSpPr txBox="1">
            <a:spLocks noGrp="1"/>
          </p:cNvSpPr>
          <p:nvPr>
            <p:ph type="title"/>
          </p:nvPr>
        </p:nvSpPr>
        <p:spPr>
          <a:xfrm>
            <a:off x="629841" y="365126"/>
            <a:ext cx="7886700" cy="1325563"/>
          </a:xfrm>
          <a:prstGeom prst="rect">
            <a:avLst/>
          </a:prstGeom>
          <a:noFill/>
          <a:ln>
            <a:noFill/>
          </a:ln>
        </p:spPr>
        <p:txBody>
          <a:bodyPr spcFirstLastPara="1" wrap="square" lIns="0" tIns="45700" rIns="0" bIns="45700" anchor="ctr" anchorCtr="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12"/>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56" name="Google Shape;56;p12"/>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7" name="Google Shape;57;p12"/>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58" name="Google Shape;58;p12"/>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9" name="Google Shape;59;p1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1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p14"/>
          <p:cNvSpPr txBox="1">
            <a:spLocks noGrp="1"/>
          </p:cNvSpPr>
          <p:nvPr>
            <p:ph type="title"/>
          </p:nvPr>
        </p:nvSpPr>
        <p:spPr>
          <a:xfrm>
            <a:off x="629841" y="457200"/>
            <a:ext cx="2949178" cy="1600200"/>
          </a:xfrm>
          <a:prstGeom prst="rect">
            <a:avLst/>
          </a:prstGeom>
          <a:noFill/>
          <a:ln>
            <a:noFill/>
          </a:ln>
        </p:spPr>
        <p:txBody>
          <a:bodyPr spcFirstLastPara="1" wrap="square" lIns="0" tIns="45700" rIns="0" bIns="45700" anchor="b" anchorCtr="0">
            <a:normAutofit/>
          </a:bodyPr>
          <a:lstStyle>
            <a:lvl1pPr lvl="0" algn="l">
              <a:lnSpc>
                <a:spcPct val="90000"/>
              </a:lnSpc>
              <a:spcBef>
                <a:spcPts val="0"/>
              </a:spcBef>
              <a:spcAft>
                <a:spcPts val="0"/>
              </a:spcAft>
              <a:buClr>
                <a:schemeClr val="dk2"/>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14"/>
          <p:cNvSpPr>
            <a:spLocks noGrp="1"/>
          </p:cNvSpPr>
          <p:nvPr>
            <p:ph type="pic" idx="2"/>
          </p:nvPr>
        </p:nvSpPr>
        <p:spPr>
          <a:xfrm>
            <a:off x="3887391" y="987426"/>
            <a:ext cx="4629150" cy="4873625"/>
          </a:xfrm>
          <a:prstGeom prst="rect">
            <a:avLst/>
          </a:prstGeom>
          <a:noFill/>
          <a:ln>
            <a:noFill/>
          </a:ln>
        </p:spPr>
      </p:sp>
      <p:sp>
        <p:nvSpPr>
          <p:cNvPr id="69" name="Google Shape;69;p14"/>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70" name="Google Shape;70;p1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457200" y="535377"/>
            <a:ext cx="8229600" cy="278130"/>
          </a:xfrm>
          <a:prstGeom prst="rect">
            <a:avLst/>
          </a:prstGeom>
          <a:noFill/>
          <a:ln>
            <a:noFill/>
          </a:ln>
        </p:spPr>
        <p:txBody>
          <a:bodyPr spcFirstLastPara="1" wrap="square" lIns="0" tIns="45700" rIns="0" bIns="45700" anchor="ctr" anchorCtr="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5"/>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6" name="Google Shape;76;p1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16"/>
          <p:cNvSpPr txBox="1">
            <a:spLocks noGrp="1"/>
          </p:cNvSpPr>
          <p:nvPr>
            <p:ph type="title"/>
          </p:nvPr>
        </p:nvSpPr>
        <p:spPr>
          <a:xfrm rot="5400000">
            <a:off x="4623594" y="2285207"/>
            <a:ext cx="5811838" cy="1971675"/>
          </a:xfrm>
          <a:prstGeom prst="rect">
            <a:avLst/>
          </a:prstGeom>
          <a:noFill/>
          <a:ln>
            <a:noFill/>
          </a:ln>
        </p:spPr>
        <p:txBody>
          <a:bodyPr spcFirstLastPara="1" wrap="square" lIns="0" tIns="45700" rIns="0" bIns="45700" anchor="ctr" anchorCtr="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6"/>
          <p:cNvSpPr txBox="1">
            <a:spLocks noGrp="1"/>
          </p:cNvSpPr>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2" name="Google Shape;82;p1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85"/>
        <p:cNvGrpSpPr/>
        <p:nvPr/>
      </p:nvGrpSpPr>
      <p:grpSpPr>
        <a:xfrm>
          <a:off x="0" y="0"/>
          <a:ext cx="0" cy="0"/>
          <a:chOff x="0" y="0"/>
          <a:chExt cx="0" cy="0"/>
        </a:xfrm>
      </p:grpSpPr>
      <p:sp>
        <p:nvSpPr>
          <p:cNvPr id="86" name="Google Shape;86;p17"/>
          <p:cNvSpPr txBox="1">
            <a:spLocks noGrp="1"/>
          </p:cNvSpPr>
          <p:nvPr>
            <p:ph type="title"/>
          </p:nvPr>
        </p:nvSpPr>
        <p:spPr>
          <a:xfrm>
            <a:off x="457200" y="535377"/>
            <a:ext cx="8229600" cy="278130"/>
          </a:xfrm>
          <a:prstGeom prst="rect">
            <a:avLst/>
          </a:prstGeom>
          <a:noFill/>
          <a:ln>
            <a:noFill/>
          </a:ln>
        </p:spPr>
        <p:txBody>
          <a:bodyPr spcFirstLastPara="1" wrap="square" lIns="0" tIns="45700" rIns="0" bIns="45700" anchor="ctr" anchorCtr="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 name="Google Shape;87;p17"/>
          <p:cNvSpPr txBox="1">
            <a:spLocks noGrp="1"/>
          </p:cNvSpPr>
          <p:nvPr>
            <p:ph type="body" idx="1"/>
          </p:nvPr>
        </p:nvSpPr>
        <p:spPr>
          <a:xfrm>
            <a:off x="432262" y="1855694"/>
            <a:ext cx="8279476" cy="3953435"/>
          </a:xfrm>
          <a:prstGeom prst="rect">
            <a:avLst/>
          </a:prstGeom>
          <a:noFill/>
          <a:ln>
            <a:noFill/>
          </a:ln>
        </p:spPr>
        <p:txBody>
          <a:bodyPr spcFirstLastPara="1" wrap="square" lIns="91425" tIns="45700" rIns="91425" bIns="45700" anchor="t" anchorCtr="0">
            <a:noAutofit/>
          </a:bodyPr>
          <a:lstStyle>
            <a:lvl1pPr marL="457200" marR="0" lvl="0" indent="-295846" algn="l" rtl="0">
              <a:lnSpc>
                <a:spcPct val="90000"/>
              </a:lnSpc>
              <a:spcBef>
                <a:spcPts val="1000"/>
              </a:spcBef>
              <a:spcAft>
                <a:spcPts val="0"/>
              </a:spcAft>
              <a:buClr>
                <a:schemeClr val="dk2"/>
              </a:buClr>
              <a:buSzPts val="1059"/>
              <a:buFont typeface="Arial"/>
              <a:buChar char="•"/>
              <a:defRPr sz="1059" b="0" i="0" u="none" strike="noStrike" cap="none">
                <a:solidFill>
                  <a:schemeClr val="dk2"/>
                </a:solidFill>
                <a:latin typeface="Arial"/>
                <a:ea typeface="Arial"/>
                <a:cs typeface="Arial"/>
                <a:sym typeface="Arial"/>
              </a:defRPr>
            </a:lvl1pPr>
            <a:lvl2pPr marL="914400" marR="0" lvl="1" indent="-295846" algn="l" rtl="0">
              <a:lnSpc>
                <a:spcPct val="90000"/>
              </a:lnSpc>
              <a:spcBef>
                <a:spcPts val="500"/>
              </a:spcBef>
              <a:spcAft>
                <a:spcPts val="0"/>
              </a:spcAft>
              <a:buClr>
                <a:schemeClr val="dk2"/>
              </a:buClr>
              <a:buSzPts val="1059"/>
              <a:buFont typeface="Arial"/>
              <a:buChar char="•"/>
              <a:defRPr sz="1059" b="0" i="0" u="none" strike="noStrike" cap="none">
                <a:solidFill>
                  <a:schemeClr val="dk2"/>
                </a:solidFill>
                <a:latin typeface="Arial"/>
                <a:ea typeface="Arial"/>
                <a:cs typeface="Arial"/>
                <a:sym typeface="Arial"/>
              </a:defRPr>
            </a:lvl2pPr>
            <a:lvl3pPr marL="1371600" marR="0" lvl="2" indent="-295846" algn="l" rtl="0">
              <a:lnSpc>
                <a:spcPct val="90000"/>
              </a:lnSpc>
              <a:spcBef>
                <a:spcPts val="500"/>
              </a:spcBef>
              <a:spcAft>
                <a:spcPts val="0"/>
              </a:spcAft>
              <a:buClr>
                <a:schemeClr val="dk2"/>
              </a:buClr>
              <a:buSzPts val="1059"/>
              <a:buFont typeface="Arial"/>
              <a:buChar char="•"/>
              <a:defRPr sz="1059" b="0" i="0" u="none" strike="noStrike" cap="none">
                <a:solidFill>
                  <a:schemeClr val="dk2"/>
                </a:solidFill>
                <a:latin typeface="Arial"/>
                <a:ea typeface="Arial"/>
                <a:cs typeface="Arial"/>
                <a:sym typeface="Arial"/>
              </a:defRPr>
            </a:lvl3pPr>
            <a:lvl4pPr marL="1828800" marR="0" lvl="3" indent="-295846" algn="l" rtl="0">
              <a:lnSpc>
                <a:spcPct val="90000"/>
              </a:lnSpc>
              <a:spcBef>
                <a:spcPts val="500"/>
              </a:spcBef>
              <a:spcAft>
                <a:spcPts val="0"/>
              </a:spcAft>
              <a:buClr>
                <a:schemeClr val="dk2"/>
              </a:buClr>
              <a:buSzPts val="1059"/>
              <a:buFont typeface="Arial"/>
              <a:buChar char="•"/>
              <a:defRPr sz="1059" b="0" i="0" u="none" strike="noStrike" cap="none">
                <a:solidFill>
                  <a:schemeClr val="dk2"/>
                </a:solidFill>
                <a:latin typeface="Arial"/>
                <a:ea typeface="Arial"/>
                <a:cs typeface="Arial"/>
                <a:sym typeface="Arial"/>
              </a:defRPr>
            </a:lvl4pPr>
            <a:lvl5pPr marL="2286000" marR="0" lvl="4" indent="-295846" algn="l" rtl="0">
              <a:lnSpc>
                <a:spcPct val="90000"/>
              </a:lnSpc>
              <a:spcBef>
                <a:spcPts val="500"/>
              </a:spcBef>
              <a:spcAft>
                <a:spcPts val="0"/>
              </a:spcAft>
              <a:buClr>
                <a:schemeClr val="dk2"/>
              </a:buClr>
              <a:buSzPts val="1059"/>
              <a:buFont typeface="Arial"/>
              <a:buChar char="•"/>
              <a:defRPr sz="1059" b="0" i="0" u="none" strike="noStrike" cap="none">
                <a:solidFill>
                  <a:schemeClr val="dk2"/>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8" name="Google Shape;88;p17"/>
          <p:cNvSpPr txBox="1">
            <a:spLocks noGrp="1"/>
          </p:cNvSpPr>
          <p:nvPr>
            <p:ph type="subTitle" idx="2"/>
          </p:nvPr>
        </p:nvSpPr>
        <p:spPr>
          <a:xfrm>
            <a:off x="432262" y="1169894"/>
            <a:ext cx="8279476" cy="322729"/>
          </a:xfrm>
          <a:prstGeom prst="rect">
            <a:avLst/>
          </a:prstGeom>
          <a:noFill/>
          <a:ln>
            <a:noFill/>
          </a:ln>
        </p:spPr>
        <p:txBody>
          <a:bodyPr spcFirstLastPara="1" wrap="square" lIns="0" tIns="0" rIns="0" bIns="0" anchor="t" anchorCtr="0">
            <a:noAutofit/>
          </a:bodyPr>
          <a:lstStyle>
            <a:lvl1pPr marR="0" lvl="0" algn="l" rtl="0">
              <a:lnSpc>
                <a:spcPct val="110000"/>
              </a:lnSpc>
              <a:spcBef>
                <a:spcPts val="882"/>
              </a:spcBef>
              <a:spcAft>
                <a:spcPts val="0"/>
              </a:spcAft>
              <a:buClr>
                <a:schemeClr val="dk2"/>
              </a:buClr>
              <a:buSzPts val="1324"/>
              <a:buFont typeface="Arial"/>
              <a:buNone/>
              <a:defRPr sz="1324" b="0" i="0" u="none" strike="noStrike" cap="none">
                <a:solidFill>
                  <a:schemeClr val="dk2"/>
                </a:solidFill>
                <a:latin typeface="Arial"/>
                <a:ea typeface="Arial"/>
                <a:cs typeface="Arial"/>
                <a:sym typeface="Arial"/>
              </a:defRPr>
            </a:lvl1pPr>
            <a:lvl2pPr marR="0" lvl="1" algn="ctr"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2">
  <p:cSld name="DEFAULT-2">
    <p:spTree>
      <p:nvGrpSpPr>
        <p:cNvPr id="1" name="Shape 89"/>
        <p:cNvGrpSpPr/>
        <p:nvPr/>
      </p:nvGrpSpPr>
      <p:grpSpPr>
        <a:xfrm>
          <a:off x="0" y="0"/>
          <a:ext cx="0" cy="0"/>
          <a:chOff x="0" y="0"/>
          <a:chExt cx="0" cy="0"/>
        </a:xfrm>
      </p:grpSpPr>
      <p:sp>
        <p:nvSpPr>
          <p:cNvPr id="90" name="Google Shape;90;p18"/>
          <p:cNvSpPr txBox="1">
            <a:spLocks noGrp="1"/>
          </p:cNvSpPr>
          <p:nvPr>
            <p:ph type="title"/>
          </p:nvPr>
        </p:nvSpPr>
        <p:spPr>
          <a:xfrm>
            <a:off x="685800" y="189436"/>
            <a:ext cx="6438900" cy="424732"/>
          </a:xfrm>
          <a:prstGeom prst="rect">
            <a:avLst/>
          </a:prstGeom>
          <a:noFill/>
          <a:ln>
            <a:noFill/>
          </a:ln>
        </p:spPr>
        <p:txBody>
          <a:bodyPr spcFirstLastPara="1" wrap="square" lIns="0" tIns="45700" rIns="0" bIns="45700" anchor="ctr" anchorCtr="0">
            <a:spAutoFit/>
          </a:bodyPr>
          <a:lstStyle>
            <a:lvl1pPr lvl="0" algn="l">
              <a:lnSpc>
                <a:spcPct val="90000"/>
              </a:lnSpc>
              <a:spcBef>
                <a:spcPts val="0"/>
              </a:spcBef>
              <a:spcAft>
                <a:spcPts val="0"/>
              </a:spcAft>
              <a:buClr>
                <a:schemeClr val="dk1"/>
              </a:buClr>
              <a:buSzPts val="2400"/>
              <a:buFont typeface="Arial"/>
              <a:buNone/>
              <a:defRPr sz="24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
          <p:cNvSpPr txBox="1">
            <a:spLocks noGrp="1"/>
          </p:cNvSpPr>
          <p:nvPr>
            <p:ph type="title"/>
          </p:nvPr>
        </p:nvSpPr>
        <p:spPr>
          <a:xfrm>
            <a:off x="457200" y="535377"/>
            <a:ext cx="8229600" cy="278130"/>
          </a:xfrm>
          <a:prstGeom prst="rect">
            <a:avLst/>
          </a:prstGeom>
          <a:noFill/>
          <a:ln>
            <a:noFill/>
          </a:ln>
        </p:spPr>
        <p:txBody>
          <a:bodyPr spcFirstLastPara="1" wrap="square" lIns="0" tIns="45700" rIns="0" bIns="45700" anchor="ctr" anchorCtr="0">
            <a:normAutofit/>
          </a:bodyPr>
          <a:lstStyle>
            <a:lvl1pPr marR="0" lvl="0" algn="l" rtl="0">
              <a:lnSpc>
                <a:spcPct val="9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2" name="Google Shape;12;p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14" name="Google Shape;14;p5"/>
          <p:cNvCxnSpPr/>
          <p:nvPr/>
        </p:nvCxnSpPr>
        <p:spPr>
          <a:xfrm>
            <a:off x="475488" y="895393"/>
            <a:ext cx="8211312" cy="0"/>
          </a:xfrm>
          <a:prstGeom prst="straightConnector1">
            <a:avLst/>
          </a:prstGeom>
          <a:noFill/>
          <a:ln w="57150" cap="flat" cmpd="sng">
            <a:solidFill>
              <a:srgbClr val="0070C0"/>
            </a:solidFill>
            <a:prstDash val="solid"/>
            <a:miter lim="800000"/>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7" r:id="rId8"/>
    <p:sldLayoutId id="2147483658" r:id="rId9"/>
    <p:sldLayoutId id="2147483659" r:id="rId10"/>
    <p:sldLayoutId id="2147483660" r:id="rId11"/>
    <p:sldLayoutId id="214748366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guide id="3" pos="288">
          <p15:clr>
            <a:srgbClr val="F26B43"/>
          </p15:clr>
        </p15:guide>
        <p15:guide id="4" pos="5472">
          <p15:clr>
            <a:srgbClr val="F26B43"/>
          </p15:clr>
        </p15:guide>
        <p15:guide id="5" orient="horz" pos="4032">
          <p15:clr>
            <a:srgbClr val="F26B43"/>
          </p15:clr>
        </p15:guide>
        <p15:guide id="6" orient="horz" pos="2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
          <p:cNvSpPr txBox="1"/>
          <p:nvPr/>
        </p:nvSpPr>
        <p:spPr>
          <a:xfrm>
            <a:off x="458100" y="1283142"/>
            <a:ext cx="8228700" cy="1969770"/>
          </a:xfrm>
          <a:prstGeom prst="rect">
            <a:avLst/>
          </a:prstGeom>
          <a:noFill/>
          <a:ln>
            <a:noFill/>
          </a:ln>
        </p:spPr>
        <p:txBody>
          <a:bodyPr spcFirstLastPara="1" wrap="square" lIns="0" tIns="0" rIns="0" bIns="0" anchor="b" anchorCtr="0">
            <a:spAutoFit/>
          </a:bodyPr>
          <a:lstStyle/>
          <a:p>
            <a:pPr lvl="0">
              <a:buClr>
                <a:srgbClr val="0070C0"/>
              </a:buClr>
              <a:buSzPts val="3200"/>
            </a:pPr>
            <a:r>
              <a:rPr lang="en-US" sz="3200" b="0" i="0" u="none" strike="noStrike" cap="none" dirty="0">
                <a:solidFill>
                  <a:srgbClr val="0070C0"/>
                </a:solidFill>
                <a:latin typeface="Arial"/>
                <a:ea typeface="Arial"/>
                <a:cs typeface="Arial"/>
                <a:sym typeface="Arial"/>
              </a:rPr>
              <a:t>Data</a:t>
            </a:r>
            <a:r>
              <a:rPr lang="en-US" sz="3200" dirty="0">
                <a:solidFill>
                  <a:srgbClr val="0070C0"/>
                </a:solidFill>
              </a:rPr>
              <a:t>-</a:t>
            </a:r>
            <a:r>
              <a:rPr lang="en-US" sz="3200" b="0" i="0" u="none" strike="noStrike" cap="none" dirty="0">
                <a:solidFill>
                  <a:srgbClr val="0070C0"/>
                </a:solidFill>
                <a:latin typeface="Arial"/>
                <a:ea typeface="Arial"/>
                <a:cs typeface="Arial"/>
                <a:sym typeface="Arial"/>
              </a:rPr>
              <a:t>Driven Storytelling Presentation: </a:t>
            </a:r>
            <a:r>
              <a:rPr lang="en-US" sz="3200" dirty="0">
                <a:latin typeface="Arial Black" panose="020B0A04020102020204" pitchFamily="34" charset="0"/>
              </a:rPr>
              <a:t>From Steady to Surge: Identifying Accounts with Explosive 5-Year Sales Growth"</a:t>
            </a:r>
            <a:endParaRPr sz="3200" dirty="0">
              <a:latin typeface="Arial Black" panose="020B0A04020102020204" pitchFamily="34" charset="0"/>
            </a:endParaRPr>
          </a:p>
        </p:txBody>
      </p:sp>
      <p:sp>
        <p:nvSpPr>
          <p:cNvPr id="97" name="Google Shape;97;p1"/>
          <p:cNvSpPr/>
          <p:nvPr/>
        </p:nvSpPr>
        <p:spPr>
          <a:xfrm>
            <a:off x="7398044" y="6337300"/>
            <a:ext cx="1288756" cy="259232"/>
          </a:xfrm>
          <a:prstGeom prst="rect">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0">
              <a:lnSpc>
                <a:spcPct val="110000"/>
              </a:lnSpc>
              <a:spcBef>
                <a:spcPts val="0"/>
              </a:spcBef>
              <a:spcAft>
                <a:spcPts val="0"/>
              </a:spcAft>
              <a:buNone/>
            </a:pPr>
            <a:endParaRPr sz="1200" b="0" i="0" u="none" strike="noStrike" cap="none">
              <a:solidFill>
                <a:schemeClr val="dk2"/>
              </a:solidFill>
              <a:latin typeface="Calibri"/>
              <a:ea typeface="Calibri"/>
              <a:cs typeface="Calibri"/>
              <a:sym typeface="Calibri"/>
            </a:endParaRPr>
          </a:p>
        </p:txBody>
      </p:sp>
      <p:pic>
        <p:nvPicPr>
          <p:cNvPr id="98" name="Google Shape;98;p1"/>
          <p:cNvPicPr preferRelativeResize="0"/>
          <p:nvPr/>
        </p:nvPicPr>
        <p:blipFill rotWithShape="1">
          <a:blip r:embed="rId4">
            <a:alphaModFix/>
          </a:blip>
          <a:srcRect/>
          <a:stretch/>
        </p:blipFill>
        <p:spPr>
          <a:xfrm>
            <a:off x="457200" y="6271072"/>
            <a:ext cx="1415143" cy="28723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4" name="Google Shape;104;p2"/>
          <p:cNvSpPr txBox="1">
            <a:spLocks noGrp="1"/>
          </p:cNvSpPr>
          <p:nvPr>
            <p:ph type="body" idx="1"/>
          </p:nvPr>
        </p:nvSpPr>
        <p:spPr>
          <a:xfrm>
            <a:off x="559558" y="327547"/>
            <a:ext cx="7886362" cy="5731266"/>
          </a:xfrm>
          <a:prstGeom prst="rect">
            <a:avLst/>
          </a:prstGeom>
          <a:noFill/>
          <a:ln>
            <a:noFill/>
          </a:ln>
        </p:spPr>
        <p:txBody>
          <a:bodyPr spcFirstLastPara="1" wrap="square" lIns="91425" tIns="45700" rIns="91425" bIns="45700" anchor="t" anchorCtr="0">
            <a:noAutofit/>
          </a:bodyPr>
          <a:lstStyle/>
          <a:p>
            <a:pPr marL="0" lvl="0" indent="0">
              <a:spcBef>
                <a:spcPts val="0"/>
              </a:spcBef>
              <a:buNone/>
            </a:pPr>
            <a:r>
              <a:rPr lang="en-US" sz="2400" dirty="0" smtClean="0">
                <a:latin typeface="Lucida Fax" panose="02060602050505020204" pitchFamily="18" charset="0"/>
              </a:rPr>
              <a:t>OVERVIEW</a:t>
            </a:r>
          </a:p>
          <a:p>
            <a:pPr marL="0" lvl="0" indent="0">
              <a:spcBef>
                <a:spcPts val="0"/>
              </a:spcBef>
              <a:buNone/>
            </a:pPr>
            <a:endParaRPr lang="en-US" sz="2400" dirty="0">
              <a:latin typeface="Lucida Fax" panose="02060602050505020204" pitchFamily="18" charset="0"/>
            </a:endParaRPr>
          </a:p>
          <a:p>
            <a:pPr marL="0" lvl="0" indent="0">
              <a:spcBef>
                <a:spcPts val="0"/>
              </a:spcBef>
              <a:buNone/>
            </a:pPr>
            <a:endParaRPr lang="en-US" sz="2400" dirty="0" smtClean="0">
              <a:latin typeface="Lucida Fax" panose="02060602050505020204" pitchFamily="18" charset="0"/>
            </a:endParaRPr>
          </a:p>
          <a:p>
            <a:pPr marL="0" lvl="0" indent="0">
              <a:spcBef>
                <a:spcPts val="0"/>
              </a:spcBef>
              <a:buNone/>
            </a:pPr>
            <a:r>
              <a:rPr lang="en-US" sz="2400" dirty="0" smtClean="0">
                <a:latin typeface="Lucida Fax" panose="02060602050505020204" pitchFamily="18" charset="0"/>
              </a:rPr>
              <a:t>In </a:t>
            </a:r>
            <a:r>
              <a:rPr lang="en-US" sz="2400" dirty="0">
                <a:latin typeface="Lucida Fax" panose="02060602050505020204" pitchFamily="18" charset="0"/>
              </a:rPr>
              <a:t>the competitive landscape of sales and business development, understanding which accounts are driving the most significant growth is crucial for future planning and strategy. Our analysis dives deep into the sales data over the past five years, focusing on identifying those accounts that have transitioned from steady performers to true sales powerhouses.</a:t>
            </a:r>
            <a:endParaRPr sz="2400" dirty="0">
              <a:latin typeface="Lucida Fax" panose="02060602050505020204" pitchFamily="18" charset="0"/>
            </a:endParaRPr>
          </a:p>
        </p:txBody>
      </p:sp>
      <p:sp>
        <p:nvSpPr>
          <p:cNvPr id="106" name="Google Shape;106;p2"/>
          <p:cNvSpPr/>
          <p:nvPr/>
        </p:nvSpPr>
        <p:spPr>
          <a:xfrm>
            <a:off x="7398044" y="6337300"/>
            <a:ext cx="1288756" cy="259232"/>
          </a:xfrm>
          <a:prstGeom prst="rect">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0">
              <a:lnSpc>
                <a:spcPct val="110000"/>
              </a:lnSpc>
              <a:spcBef>
                <a:spcPts val="0"/>
              </a:spcBef>
              <a:spcAft>
                <a:spcPts val="0"/>
              </a:spcAft>
              <a:buNone/>
            </a:pPr>
            <a:endParaRPr sz="1200" b="0" i="0" u="none" strike="noStrike" cap="none">
              <a:solidFill>
                <a:schemeClr val="dk2"/>
              </a:solidFill>
              <a:latin typeface="Calibri"/>
              <a:ea typeface="Calibri"/>
              <a:cs typeface="Calibri"/>
              <a:sym typeface="Calibri"/>
            </a:endParaRPr>
          </a:p>
        </p:txBody>
      </p:sp>
      <p:pic>
        <p:nvPicPr>
          <p:cNvPr id="107" name="Google Shape;107;p2"/>
          <p:cNvPicPr preferRelativeResize="0"/>
          <p:nvPr/>
        </p:nvPicPr>
        <p:blipFill rotWithShape="1">
          <a:blip r:embed="rId4">
            <a:alphaModFix/>
          </a:blip>
          <a:srcRect/>
          <a:stretch/>
        </p:blipFill>
        <p:spPr>
          <a:xfrm>
            <a:off x="457200" y="6271072"/>
            <a:ext cx="1415143" cy="28723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0" y="0"/>
            <a:ext cx="4572638" cy="3429479"/>
          </a:xfrm>
          <a:prstGeom prst="rect">
            <a:avLst/>
          </a:prstGeom>
        </p:spPr>
      </p:pic>
      <p:sp>
        <p:nvSpPr>
          <p:cNvPr id="3" name="Text Placeholder 2"/>
          <p:cNvSpPr>
            <a:spLocks noGrp="1"/>
          </p:cNvSpPr>
          <p:nvPr>
            <p:ph type="body" idx="1"/>
          </p:nvPr>
        </p:nvSpPr>
        <p:spPr>
          <a:xfrm>
            <a:off x="432900" y="1081863"/>
            <a:ext cx="8279476" cy="4695231"/>
          </a:xfrm>
        </p:spPr>
        <p:txBody>
          <a:bodyPr/>
          <a:lstStyle/>
          <a:p>
            <a:r>
              <a:rPr lang="en-US" sz="1800" dirty="0">
                <a:latin typeface="Arial Rounded MT Bold" panose="020F0704030504030204" pitchFamily="34" charset="0"/>
              </a:rPr>
              <a:t>The Top Performers</a:t>
            </a:r>
            <a:r>
              <a:rPr lang="en-US" sz="1800" dirty="0" smtClean="0">
                <a:latin typeface="Arial Rounded MT Bold" panose="020F0704030504030204" pitchFamily="34" charset="0"/>
              </a:rPr>
              <a:t>:</a:t>
            </a:r>
          </a:p>
          <a:p>
            <a:pPr marL="161354" indent="0">
              <a:buNone/>
            </a:pPr>
            <a:r>
              <a:rPr lang="en-US" sz="1800" dirty="0" smtClean="0">
                <a:latin typeface="+mn-lt"/>
              </a:rPr>
              <a:t> </a:t>
            </a:r>
            <a:r>
              <a:rPr lang="en-US" sz="1800" dirty="0">
                <a:latin typeface="+mn-lt"/>
              </a:rPr>
              <a:t>A Look at the </a:t>
            </a:r>
            <a:r>
              <a:rPr lang="en-US" sz="1800" dirty="0" err="1">
                <a:latin typeface="+mn-lt"/>
              </a:rPr>
              <a:t>DataThe</a:t>
            </a:r>
            <a:r>
              <a:rPr lang="en-US" sz="1800" dirty="0">
                <a:latin typeface="+mn-lt"/>
              </a:rPr>
              <a:t> dataset reveals several standout accounts that have demonstrated remarkable growth in their sales volumes from 2017 to 2021. By calculating the Compound Annual Growth Rate (CAGR) for each account over this period, we can clearly see which businesses have managed to amplify their sales and outpace their peers</a:t>
            </a:r>
            <a:r>
              <a:rPr lang="en-US" sz="1800" dirty="0" smtClean="0">
                <a:latin typeface="+mn-lt"/>
              </a:rPr>
              <a:t>.</a:t>
            </a:r>
          </a:p>
          <a:p>
            <a:pPr marL="161354" indent="0">
              <a:buNone/>
            </a:pPr>
            <a:r>
              <a:rPr lang="en-US" sz="1800" dirty="0" smtClean="0">
                <a:latin typeface="+mn-lt"/>
              </a:rPr>
              <a:t>Account </a:t>
            </a:r>
            <a:r>
              <a:rPr lang="en-US" sz="1800" dirty="0">
                <a:latin typeface="+mn-lt"/>
              </a:rPr>
              <a:t>SB 1: Starting with a 2017 sales volume of 1,982 units, this account skyrocketed to 9,093 units by 2021. The CAGR of 46.35% is a testament to the strategic decisions and market positioning that have enabled this account to grow rapidly</a:t>
            </a:r>
            <a:r>
              <a:rPr lang="en-US" sz="1800" dirty="0" smtClean="0">
                <a:latin typeface="+mn-lt"/>
              </a:rPr>
              <a:t>.</a:t>
            </a:r>
          </a:p>
          <a:p>
            <a:pPr marL="161354" indent="0">
              <a:buNone/>
            </a:pPr>
            <a:r>
              <a:rPr lang="en-US" sz="1800" dirty="0" smtClean="0">
                <a:latin typeface="+mn-lt"/>
              </a:rPr>
              <a:t>Account </a:t>
            </a:r>
            <a:r>
              <a:rPr lang="en-US" sz="1800" dirty="0">
                <a:latin typeface="+mn-lt"/>
              </a:rPr>
              <a:t>SB 2: Despite a more modest start with 2,786 units sold in 2017, this account has consistently expanded its market reach, ending with 6,909 units in 2021, marking a CAGR of 25.49%.</a:t>
            </a:r>
          </a:p>
        </p:txBody>
      </p:sp>
    </p:spTree>
    <p:extLst>
      <p:ext uri="{BB962C8B-B14F-4D97-AF65-F5344CB8AC3E}">
        <p14:creationId xmlns:p14="http://schemas.microsoft.com/office/powerpoint/2010/main" val="1180227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78525" y="788396"/>
            <a:ext cx="7886700" cy="4351338"/>
          </a:xfrm>
        </p:spPr>
        <p:txBody>
          <a:bodyPr/>
          <a:lstStyle/>
          <a:p>
            <a:r>
              <a:rPr lang="en-US" sz="1400" b="1" dirty="0"/>
              <a:t>Understanding the Drivers of Growth</a:t>
            </a:r>
          </a:p>
          <a:p>
            <a:pPr marL="50800" indent="0">
              <a:buNone/>
            </a:pPr>
            <a:r>
              <a:rPr lang="en-US" sz="1400" dirty="0"/>
              <a:t>Several factors contribute to these accounts' explosive growth:</a:t>
            </a:r>
          </a:p>
          <a:p>
            <a:pPr marL="50800" indent="0">
              <a:buNone/>
            </a:pPr>
            <a:r>
              <a:rPr lang="en-US" sz="1400" b="1" dirty="0"/>
              <a:t>Diverse Product Offerings:</a:t>
            </a:r>
            <a:r>
              <a:rPr lang="en-US" sz="1400" dirty="0"/>
              <a:t> Both top-performing accounts have been consistent in offering a wide range of products. This variety likely caters to a broader customer base, driving up sales.</a:t>
            </a:r>
          </a:p>
          <a:p>
            <a:pPr marL="50800" indent="0">
              <a:buNone/>
            </a:pPr>
            <a:r>
              <a:rPr lang="en-US" sz="1400" b="1" dirty="0"/>
              <a:t>Effective Marketing and Promotions:</a:t>
            </a:r>
            <a:r>
              <a:rPr lang="en-US" sz="1400" dirty="0"/>
              <a:t> A strong correlation can be observed between accounts that engaged in comprehensive marketing programs—such as social media campaigns, coupon distribution, and catalog inclusions—and those with higher sales growth. These accounts invested in multiple promotional avenues, resulting in increased visibility and customer acquisition.</a:t>
            </a:r>
          </a:p>
          <a:p>
            <a:pPr marL="50800" indent="0">
              <a:buNone/>
            </a:pPr>
            <a:r>
              <a:rPr lang="en-US" sz="1400" b="1" dirty="0"/>
              <a:t>Strategic Customer Relationship Management:</a:t>
            </a:r>
            <a:r>
              <a:rPr lang="en-US" sz="1400" dirty="0"/>
              <a:t> The accounts with the highest CAGR also demonstrate strong relationships with their decision-makers. Personalized customer service and targeted communication likely played a significant role in their sustained growth.</a:t>
            </a:r>
          </a:p>
          <a:p>
            <a:r>
              <a:rPr lang="en-US" sz="1400" b="1" dirty="0"/>
              <a:t>Lessons for Future Growth</a:t>
            </a:r>
          </a:p>
          <a:p>
            <a:pPr marL="50800" indent="0">
              <a:buNone/>
            </a:pPr>
            <a:r>
              <a:rPr lang="en-US" sz="1400" dirty="0"/>
              <a:t>For businesses aiming to replicate this success, several strategic insights can be drawn:</a:t>
            </a:r>
          </a:p>
          <a:p>
            <a:pPr marL="50800" indent="0">
              <a:buNone/>
            </a:pPr>
            <a:r>
              <a:rPr lang="en-US" sz="1400" b="1" dirty="0"/>
              <a:t>Invest in Marketing:</a:t>
            </a:r>
            <a:r>
              <a:rPr lang="en-US" sz="1400" dirty="0"/>
              <a:t> As seen with the high-growth accounts, diverse and aggressive marketing strategies significantly contribute to sales growth. Businesses should consider ramping up their promotional efforts across multiple channels.</a:t>
            </a:r>
          </a:p>
          <a:p>
            <a:pPr marL="50800" indent="0">
              <a:buNone/>
            </a:pPr>
            <a:r>
              <a:rPr lang="en-US" sz="1400" b="1" dirty="0"/>
              <a:t>Expand Product Lines:</a:t>
            </a:r>
            <a:r>
              <a:rPr lang="en-US" sz="1400" dirty="0"/>
              <a:t> Offering a variety of products can attract different customer segments and increase overall sales volume. Regularly reviewing and updating the product mix based on customer feedback and market trends is crucial.</a:t>
            </a:r>
          </a:p>
          <a:p>
            <a:pPr marL="50800" indent="0">
              <a:buNone/>
            </a:pPr>
            <a:r>
              <a:rPr lang="en-US" sz="1400" b="1" dirty="0" smtClean="0"/>
              <a:t>Foster </a:t>
            </a:r>
            <a:r>
              <a:rPr lang="en-US" sz="1400" b="1" dirty="0"/>
              <a:t>Strong Customer Relationships:</a:t>
            </a:r>
            <a:r>
              <a:rPr lang="en-US" sz="1400" dirty="0"/>
              <a:t> Consistent communication, understanding customer needs, and providing tailored solutions are key drivers of customer loyalty and repeat business, which in turn fuels growth.</a:t>
            </a:r>
          </a:p>
          <a:p>
            <a:endParaRPr lang="en-US" sz="1200" dirty="0"/>
          </a:p>
        </p:txBody>
      </p:sp>
    </p:spTree>
    <p:extLst>
      <p:ext uri="{BB962C8B-B14F-4D97-AF65-F5344CB8AC3E}">
        <p14:creationId xmlns:p14="http://schemas.microsoft.com/office/powerpoint/2010/main" val="32729865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4"/>
          <p:cNvSpPr txBox="1">
            <a:spLocks noGrp="1"/>
          </p:cNvSpPr>
          <p:nvPr>
            <p:ph type="title"/>
          </p:nvPr>
        </p:nvSpPr>
        <p:spPr>
          <a:xfrm>
            <a:off x="457200" y="580201"/>
            <a:ext cx="8229600" cy="278130"/>
          </a:xfrm>
          <a:prstGeom prst="rect">
            <a:avLst/>
          </a:prstGeom>
          <a:noFill/>
          <a:ln>
            <a:noFill/>
          </a:ln>
        </p:spPr>
        <p:txBody>
          <a:bodyPr spcFirstLastPara="1" wrap="square" lIns="0" tIns="45700" rIns="0" bIns="45700" anchor="ctr" anchorCtr="0">
            <a:normAutofit fontScale="90000"/>
          </a:bodyPr>
          <a:lstStyle/>
          <a:p>
            <a:pPr marL="0" lvl="0" indent="0" algn="l" rtl="0">
              <a:lnSpc>
                <a:spcPct val="90000"/>
              </a:lnSpc>
              <a:spcBef>
                <a:spcPts val="0"/>
              </a:spcBef>
              <a:spcAft>
                <a:spcPts val="0"/>
              </a:spcAft>
              <a:buClr>
                <a:srgbClr val="0070C0"/>
              </a:buClr>
              <a:buSzPct val="100000"/>
              <a:buFont typeface="Arial"/>
              <a:buNone/>
            </a:pPr>
            <a:r>
              <a:rPr lang="en-US">
                <a:solidFill>
                  <a:srgbClr val="0070C0"/>
                </a:solidFill>
              </a:rPr>
              <a:t>Summary</a:t>
            </a:r>
            <a:endParaRPr/>
          </a:p>
        </p:txBody>
      </p:sp>
      <p:sp>
        <p:nvSpPr>
          <p:cNvPr id="121" name="Google Shape;121;p4"/>
          <p:cNvSpPr txBox="1"/>
          <p:nvPr/>
        </p:nvSpPr>
        <p:spPr>
          <a:xfrm>
            <a:off x="539552" y="1556792"/>
            <a:ext cx="7439036" cy="3416279"/>
          </a:xfrm>
          <a:prstGeom prst="rect">
            <a:avLst/>
          </a:prstGeom>
          <a:noFill/>
          <a:ln>
            <a:noFill/>
          </a:ln>
        </p:spPr>
        <p:txBody>
          <a:bodyPr spcFirstLastPara="1" wrap="square" lIns="91425" tIns="45700" rIns="91425" bIns="45700" anchor="t" anchorCtr="0">
            <a:spAutoFit/>
          </a:bodyPr>
          <a:lstStyle/>
          <a:p>
            <a:pPr lvl="0">
              <a:buClr>
                <a:schemeClr val="dk1"/>
              </a:buClr>
              <a:buSzPts val="1600"/>
            </a:pPr>
            <a:r>
              <a:rPr lang="en-US" sz="2400" dirty="0" smtClean="0">
                <a:solidFill>
                  <a:schemeClr val="dk1"/>
                </a:solidFill>
                <a:latin typeface="+mn-lt"/>
                <a:ea typeface="Calibri"/>
                <a:cs typeface="Calibri"/>
                <a:sym typeface="Calibri"/>
              </a:rPr>
              <a:t>The </a:t>
            </a:r>
            <a:r>
              <a:rPr lang="en-US" sz="2400" dirty="0">
                <a:solidFill>
                  <a:schemeClr val="dk1"/>
                </a:solidFill>
                <a:latin typeface="+mn-lt"/>
                <a:ea typeface="Calibri"/>
                <a:cs typeface="Calibri"/>
                <a:sym typeface="Calibri"/>
              </a:rPr>
              <a:t>journey from steady sales to explosive growth is no small feat, but the data clearly shows that with the right strategies, it's within reach. As we look forward, businesses that prioritize diversification, marketing, and customer relationship management will be well-positioned to achieve similar success. By learning from these high-growth accounts, companies can set the stage for their own surge in the years to come.</a:t>
            </a:r>
            <a:endParaRPr sz="2400" dirty="0">
              <a:solidFill>
                <a:schemeClr val="dk1"/>
              </a:solidFill>
              <a:latin typeface="+mn-lt"/>
              <a:ea typeface="Calibri"/>
              <a:cs typeface="Calibri"/>
              <a:sym typeface="Calibri"/>
            </a:endParaRPr>
          </a:p>
          <a:p>
            <a:pPr marL="285750" marR="0" lvl="0" indent="-184150" algn="l" rtl="0">
              <a:spcBef>
                <a:spcPts val="0"/>
              </a:spcBef>
              <a:spcAft>
                <a:spcPts val="0"/>
              </a:spcAft>
              <a:buClr>
                <a:schemeClr val="dk1"/>
              </a:buClr>
              <a:buSzPts val="1600"/>
              <a:buFont typeface="Arial"/>
              <a:buNone/>
            </a:pPr>
            <a:endParaRPr sz="2400" dirty="0">
              <a:solidFill>
                <a:schemeClr val="dk1"/>
              </a:solidFill>
              <a:latin typeface="Lucida Fax" panose="02060602050505020204" pitchFamily="18" charset="0"/>
              <a:ea typeface="Calibri"/>
              <a:cs typeface="Calibri"/>
              <a:sym typeface="Calibri"/>
            </a:endParaRPr>
          </a:p>
        </p:txBody>
      </p:sp>
      <p:sp>
        <p:nvSpPr>
          <p:cNvPr id="122" name="Google Shape;122;p4"/>
          <p:cNvSpPr/>
          <p:nvPr/>
        </p:nvSpPr>
        <p:spPr>
          <a:xfrm>
            <a:off x="7398044" y="6337300"/>
            <a:ext cx="1288756" cy="259232"/>
          </a:xfrm>
          <a:prstGeom prst="rect">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0">
              <a:lnSpc>
                <a:spcPct val="110000"/>
              </a:lnSpc>
              <a:spcBef>
                <a:spcPts val="0"/>
              </a:spcBef>
              <a:spcAft>
                <a:spcPts val="0"/>
              </a:spcAft>
              <a:buNone/>
            </a:pPr>
            <a:endParaRPr sz="1200">
              <a:solidFill>
                <a:schemeClr val="dk2"/>
              </a:solidFill>
              <a:latin typeface="Calibri"/>
              <a:ea typeface="Calibri"/>
              <a:cs typeface="Calibri"/>
              <a:sym typeface="Calibri"/>
            </a:endParaRPr>
          </a:p>
        </p:txBody>
      </p:sp>
      <p:pic>
        <p:nvPicPr>
          <p:cNvPr id="123" name="Google Shape;123;p4"/>
          <p:cNvPicPr preferRelativeResize="0"/>
          <p:nvPr/>
        </p:nvPicPr>
        <p:blipFill rotWithShape="1">
          <a:blip r:embed="rId4">
            <a:alphaModFix/>
          </a:blip>
          <a:srcRect/>
          <a:stretch/>
        </p:blipFill>
        <p:spPr>
          <a:xfrm>
            <a:off x="457200" y="6271072"/>
            <a:ext cx="1415143" cy="287233"/>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JPMorgan Chase &amp; Co">
      <a:dk1>
        <a:srgbClr val="000000"/>
      </a:dk1>
      <a:lt1>
        <a:srgbClr val="FFFFFF"/>
      </a:lt1>
      <a:dk2>
        <a:srgbClr val="6D6E6A"/>
      </a:dk2>
      <a:lt2>
        <a:srgbClr val="478FBF"/>
      </a:lt2>
      <a:accent1>
        <a:srgbClr val="0069A3"/>
      </a:accent1>
      <a:accent2>
        <a:srgbClr val="818A37"/>
      </a:accent2>
      <a:accent3>
        <a:srgbClr val="7DBAC4"/>
      </a:accent3>
      <a:accent4>
        <a:srgbClr val="5A5397"/>
      </a:accent4>
      <a:accent5>
        <a:srgbClr val="7E776F"/>
      </a:accent5>
      <a:accent6>
        <a:srgbClr val="AD670D"/>
      </a:accent6>
      <a:hlink>
        <a:srgbClr val="B99D30"/>
      </a:hlink>
      <a:folHlink>
        <a:srgbClr val="007C8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TotalTime>
  <Words>555</Words>
  <Application>Microsoft Office PowerPoint</Application>
  <PresentationFormat>On-screen Show (4:3)</PresentationFormat>
  <Paragraphs>22</Paragraphs>
  <Slides>5</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Arial Black</vt:lpstr>
      <vt:lpstr>Arial Rounded MT Bold</vt:lpstr>
      <vt:lpstr>Calibri</vt:lpstr>
      <vt:lpstr>Lucida Fax</vt:lpstr>
      <vt:lpstr>Office Theme</vt:lpstr>
      <vt:lpstr>PowerPoint Presentation</vt:lpstr>
      <vt:lpstr>PowerPoint Presentation</vt:lpstr>
      <vt:lpstr>PowerPoint Presentation</vt:lpstr>
      <vt:lpstr>PowerPoint Presentation</vt:lpstr>
      <vt:lpstr>Summary</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 Andrew X</dc:creator>
  <cp:lastModifiedBy>DELL</cp:lastModifiedBy>
  <cp:revision>3</cp:revision>
  <dcterms:created xsi:type="dcterms:W3CDTF">2020-03-26T22:50:15Z</dcterms:created>
  <dcterms:modified xsi:type="dcterms:W3CDTF">2024-08-30T18:57:15Z</dcterms:modified>
</cp:coreProperties>
</file>